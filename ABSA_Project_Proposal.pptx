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3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498080" y="-731520"/>
            <a:ext cx="2743200" cy="2743200"/>
          </a:xfrm>
          <a:prstGeom prst="rect">
            <a:avLst/>
          </a:prstGeom>
          <a:solidFill>
            <a:srgbClr val="132E5B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2100000">
            <a:off x="8046720" y="2926080"/>
            <a:ext cx="2011680" cy="2011680"/>
          </a:xfrm>
          <a:prstGeom prst="rect">
            <a:avLst/>
          </a:prstGeom>
          <a:solidFill>
            <a:srgbClr val="132E5B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Aspect-Based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Analysis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Reviews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 aspect terms and predict sentiment for each aspect.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286000" cy="274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INFO7610 NLP — Project Proposal  |  March 24,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4395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GOUSU DING       ding.go@northeastern.edu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</a:t>
            </a:r>
            <a:endParaRPr lang="en-US" sz="9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FB4A2C-1434-DC28-778F-C43F5D6C9EEE}"/>
              </a:ext>
            </a:extLst>
          </p:cNvPr>
          <p:cNvSpPr txBox="1"/>
          <p:nvPr/>
        </p:nvSpPr>
        <p:spPr>
          <a:xfrm>
            <a:off x="3736094" y="3361594"/>
            <a:ext cx="5316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FANGYUAN ZHANG </a:t>
            </a:r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zhang.fangyua@northeastern.edu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BD00D1-9D3C-1DD8-501D-1E40B5C8537A}"/>
              </a:ext>
            </a:extLst>
          </p:cNvPr>
          <p:cNvSpPr txBox="1"/>
          <p:nvPr/>
        </p:nvSpPr>
        <p:spPr>
          <a:xfrm>
            <a:off x="3736094" y="3812687"/>
            <a:ext cx="5316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Y</a:t>
            </a:r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UNZHU</a:t>
            </a:r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 C</a:t>
            </a:r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HEN     chen.yunzh@northeastern.edu</a:t>
            </a:r>
            <a:endParaRPr lang="zh-CN" altLang="en-US" sz="1100" b="1" kern="0" spc="300" dirty="0">
              <a:solidFill>
                <a:srgbClr val="38BDF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77F9BD7-3D4E-8DCB-D5D6-89EE650C109D}"/>
              </a:ext>
            </a:extLst>
          </p:cNvPr>
          <p:cNvSpPr txBox="1"/>
          <p:nvPr/>
        </p:nvSpPr>
        <p:spPr>
          <a:xfrm>
            <a:off x="3749040" y="4057756"/>
            <a:ext cx="5316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Y</a:t>
            </a:r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U</a:t>
            </a:r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b</a:t>
            </a:r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O</a:t>
            </a:r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 W</a:t>
            </a:r>
            <a:r>
              <a:rPr lang="en-US" altLang="zh-CN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ANG       </a:t>
            </a:r>
            <a:r>
              <a:rPr lang="zh-CN" altLang="en-US" sz="1100" b="1" kern="0" spc="300" dirty="0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wang.yubo3@northeastern.edu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Star Ratings Aren’t Enough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937760" cy="150876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32688"/>
            <a:ext cx="164592" cy="1645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932688"/>
            <a:ext cx="164592" cy="16459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932688"/>
            <a:ext cx="164592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Review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85800" y="1188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pasta was absolutely delicious and the ambiance was lovely, but we waited 45 minutes for a table and the waiter was rude. 3 stars."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858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ABSA extracts:  pasta → </a:t>
            </a:r>
            <a:r>
              <a:rPr lang="en-US" sz="950" b="1" dirty="0">
                <a:solidFill>
                  <a:srgbClr val="16A34A"/>
                </a:solidFill>
              </a:rPr>
              <a:t>Pos</a:t>
            </a:r>
            <a:r>
              <a:rPr lang="en-US" sz="950" b="1" dirty="0">
                <a:solidFill>
                  <a:srgbClr val="0F172A"/>
                </a:solidFill>
              </a:rPr>
              <a:t>   ambiance → </a:t>
            </a:r>
            <a:r>
              <a:rPr lang="en-US" sz="950" b="1" dirty="0">
                <a:solidFill>
                  <a:srgbClr val="16A34A"/>
                </a:solidFill>
              </a:rPr>
              <a:t>Pos</a:t>
            </a:r>
            <a:r>
              <a:rPr lang="en-US" sz="950" b="1" dirty="0">
                <a:solidFill>
                  <a:srgbClr val="0F172A"/>
                </a:solidFill>
              </a:rPr>
              <a:t>   wait time → </a:t>
            </a:r>
            <a:r>
              <a:rPr lang="en-US" sz="950" b="1" dirty="0">
                <a:solidFill>
                  <a:srgbClr val="DC2626"/>
                </a:solidFill>
              </a:rPr>
              <a:t>Neg</a:t>
            </a:r>
            <a:r>
              <a:rPr lang="en-US" sz="950" b="1" dirty="0">
                <a:solidFill>
                  <a:srgbClr val="0F172A"/>
                </a:solidFill>
              </a:rPr>
              <a:t>   waiter → </a:t>
            </a:r>
            <a:r>
              <a:rPr lang="en-US" sz="950" b="1" dirty="0">
                <a:solidFill>
                  <a:srgbClr val="DC2626"/>
                </a:solidFill>
              </a:rPr>
              <a:t>Neg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5669280" y="822960"/>
            <a:ext cx="3108960" cy="15087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7"/>
          <p:cNvSpPr/>
          <p:nvPr/>
        </p:nvSpPr>
        <p:spPr>
          <a:xfrm>
            <a:off x="5669280" y="822960"/>
            <a:ext cx="54864" cy="150876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5852160" y="932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the manager knows: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852160" y="1280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Keep: food quality, ambiance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Fix: staffing, wait time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2542032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548640" y="2542032"/>
            <a:ext cx="54864" cy="118872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/>
          <p:cNvSpPr/>
          <p:nvPr/>
        </p:nvSpPr>
        <p:spPr>
          <a:xfrm>
            <a:off x="731520" y="2706624"/>
            <a:ext cx="347472" cy="347472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2776118"/>
            <a:ext cx="208483" cy="2084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2679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What Matters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1520" y="30449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find aspect terms (food, service, ambiance, wait time, price) from raw review text — no manual tagging needed.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754880" y="2542032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4754880" y="2542032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7"/>
          <p:cNvSpPr/>
          <p:nvPr/>
        </p:nvSpPr>
        <p:spPr>
          <a:xfrm>
            <a:off x="4937760" y="2706624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4" y="2776118"/>
            <a:ext cx="208483" cy="2084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13248" y="2679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per Aspect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937760" y="30449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fine-grained sentiment: “pasta → Positive”, “service → Negative”. One review can contain mixed opinions.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48640" y="4050792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1"/>
          <p:cNvSpPr/>
          <p:nvPr/>
        </p:nvSpPr>
        <p:spPr>
          <a:xfrm>
            <a:off x="548640" y="4050792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731520" y="421538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" y="4284878"/>
            <a:ext cx="208483" cy="20848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07008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Cross-Domain Insights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31520" y="45537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restaurant reviews, test on laptop reviews — do models generalize across product domains?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754880" y="4050792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4754880" y="4050792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4937760" y="4215384"/>
            <a:ext cx="347472" cy="3474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7254" y="4284878"/>
            <a:ext cx="208483" cy="2084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13248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for Business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4937760" y="45537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owner can see: “food: 92% positive, service: 41% negative” — instantly know where to invest.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raw restaurant review, our system (1) extracts what diners mention, then (2) determines how they feel about each aspect. This is end-to-end ABSA.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3317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331720" cy="29260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23317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233172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23317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83680" y="1417320"/>
            <a:ext cx="2331720" cy="2926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83680" y="1417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ASC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542032"/>
            <a:ext cx="228600" cy="22860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4203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" y="185623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sushi was fresh and the presentation was beautiful, but the service was painfully slow and they got my order wrong."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8368" y="30632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 text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aspect list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75888" y="1828800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Sequence Labeling: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75888" y="2148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"sushi"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[B-ASP]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75888" y="249631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"presentation"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[B-ASP]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75888" y="284378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"service"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[B-ASP]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75888" y="31912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"order"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[B-ASP]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693408" y="1828800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per aspect: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693408" y="21488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sushi → 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693408" y="249631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693408" y="284378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</a:t>
            </a: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693408" y="31912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</a:t>
            </a: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(aspect, sentiment) pairs extracted automatically from raw text — no predefined aspect list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Related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Field Has Done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92608" cy="292608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2" y="1265530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SemEval ABSA Shared Tasks (2014–2016)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141732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benchmarks. Restaurant + Laptop reviews with aspect annotations. Example: "The falafel was rather dry" → aspect: falafel, sentiment: Negative.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292608" cy="292608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2" y="2225650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1488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LSTMs to Transformers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60120" y="23774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Early: target-dependent LSTMs (Tang et al. 2016). Current SOTA: BERT/DeBERTa fine-tuning. DeBERTa’s disentangled attention helps distinguish multi-aspect sentences.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2" y="3185770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108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 = Sequence Labeling (like NER)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60120" y="333756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tagging: "The [B-ASP]clam [I-ASP]chowder was amazing." Li et al. (2019) showed joint ATE+ASC with BERT outperforms separate models. Connects to our class NER assignments.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120640" y="804672"/>
            <a:ext cx="3657600" cy="301752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5120640" y="804672"/>
            <a:ext cx="54864" cy="301752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5285232" y="9144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Contribution / What’s Missing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85232" y="1243584"/>
            <a:ext cx="3337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 evaluates ATE and ASC separately. Few build the full pipeline: raw text → (aspect, sentiment) pairs. When ATE makes mistakes, how badly does ASC suffer?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Two-stage pipeline: ATE → ASC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vs DeBERTa on both stages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Cross-domain: Restaurant ↔ Laptop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errors: extraction vs classification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using ABSA needs the full pipeline. If the model misses "clam chowder" as an aspect, it can never know diners are unhappy with it.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Pontiki et al. (2014) SemEval-2014 Task 4.  • Tang et al. (2016) Target-Dependent LSTMs. COLING.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(2019) BERT Post-Training for ABSA. • Li et al. (2019) Exploiting BERT for E2E ABSA. W-NUT @ EMNLP.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 2014 ABSA — the most widely used benchmark for aspect-level sentiment analysis, with real restaurant and laptop reviews.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77010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44475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Domain (Primary)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98448" y="1737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train / ~800 test sentences from real customers. Aspects: food, service, ambiance, price. Example: "The pasta is out of this world [Pos], but prices are a bit steep [Neg]."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49808" y="26974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2774290"/>
            <a:ext cx="230429" cy="23042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98448" y="254203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Domain (Cross-domain)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98448" y="2834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train / ~800 test sentences about laptops. Aspects: screen, battery, performance, price, design. Tests: can a restaurant model transfer to a completely different product domain?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749808" y="37947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3871570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98448" y="36393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Format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98448" y="3931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ATE: BIO tagging — B-ASP (begin), I-ASP (inside), O (outside). Same as NER.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ASC: Positive / Neutral / Negative per aspect. ~46% Pos, ~34% Neg, ~20% Neu (class imbalance).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pipeline: first extract aspects via sequence labeling (ATE), then classify sentiment per aspect (ASC).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63040" cy="548640"/>
          </a:xfrm>
          <a:prstGeom prst="rect">
            <a:avLst/>
          </a:prstGeom>
          <a:solidFill>
            <a:srgbClr val="0B1D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371600"/>
            <a:ext cx="2011680" cy="548640"/>
          </a:xfrm>
          <a:prstGeom prst="rect">
            <a:avLst/>
          </a:prstGeom>
          <a:solidFill>
            <a:srgbClr val="1D63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42316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ATE Extractor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14630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20840" y="1371600"/>
            <a:ext cx="2057400" cy="5486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20840" y="1371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ASC Classifier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527048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27048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270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19659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(aspect, sentiment) pairs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2240280"/>
            <a:ext cx="3886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548640" y="2240280"/>
            <a:ext cx="54864" cy="150876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749808" y="233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1: Aspect Term Extraction (ATE)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9808" y="26060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BERT/DeBERTa for BIO sequence labeling (token classification) — same approach as NER in class.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"The clam chowder was incredible but our waiter seemed annoyed."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"clam chowder" [B-ASP, I-ASP], "waiter" [B-ASP]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09160" y="2240280"/>
            <a:ext cx="3886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709160" y="2240280"/>
            <a:ext cx="54864" cy="1508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4910328" y="233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2: Aspect Sentiment Classification (ASC)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910328" y="26060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extracted aspect, fine-tune BERT/DeBERTa for 3-class classification (Pos/Neu/Neg) using [CLS].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("...clam chowder was incredible...", aspect="clam chowder")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Positive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("...waiter seemed annoyed.", aspect="waiter")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Negative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BERT vs DeBERTa on both stages  ·  Cross-domain: Restaurant ↔ Laptop  ·  Error analysis: extraction vs classification failures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both stages independently and as an end-to-end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 Evaluation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Precision, Recall, F1 (exact span match). Same seqeval metrics used in our NER assignments. Correct only if both boundaries match.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ASC 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Macro-F1 for 3-class sentiment. Confusion matrix for Neutral vs Negative. Evaluated on gold aspects (upper bound) and extracted aspects (realistic).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DeBERTa on both ATE and ASC. Cross-domain: train Restaurant → test Laptop (and vice versa).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892040" y="310896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Error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end-to-end errors: extraction or classification failure? Missed aspects, wrong boundaries, wrong sentiment. Example breakdowns per domain.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4-week plan to build and evaluate the two-stage ABSA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0704" y="1508760"/>
            <a:ext cx="36576" cy="25603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329184" cy="329184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3533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+ ATE Baseline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5910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SemEval ABSA data, create BIO labels for ATE, build (sentence, aspect) pairs for ASC. Train a simple ATE baseline.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08483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066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 Transformer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3042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and DeBERTa for ATE (token classification) and ASC (sequence classification). Tune hyperparameters.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798064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44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798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Integration + Cross-Domain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0175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ATE output to ASC input. Run cross-domain experiments (Restaurant ↔ Laptop). Begin error analysis.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511296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 + Final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31720" y="37307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error analysis across pipeline stages. Prepare final presentation and write-up.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4114800"/>
            <a:ext cx="3749040" cy="68580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29200" y="4114800"/>
            <a:ext cx="54864" cy="68580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166360" y="4251960"/>
            <a:ext cx="320040" cy="320040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4315968"/>
            <a:ext cx="192024" cy="19202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57784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 of Labor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5778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A: ATE pipeline  |  Person B: ASC pipeline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integration, evaluation, slides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Open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Challenges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24358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70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 Boundary Detection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32688" y="13990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Multi-word aspects (e.g., "clam chowder", "wait time") are harder — boundary errors propagate to ASC.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9339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Implicit / Context Sentiment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2688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restaurant was not bad" — positive or neutral? Sarcasm like "Oh great, another 40-minute wait" is hard to capture.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2688336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74320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Shift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32688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"Hot" means good for food but bad for laptops. Aspect vocabularies differ — how much does cross-domain transfer degrade?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" y="343814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493008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419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Propagation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932688" y="36484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mistakes cascade into ASC. If the model misses "clam chowder" as an aspect, it can never predict sentiment for it.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029200" y="804672"/>
            <a:ext cx="3749040" cy="3108960"/>
          </a:xfrm>
          <a:prstGeom prst="rect">
            <a:avLst/>
          </a:prstGeom>
          <a:solidFill>
            <a:srgbClr val="DBEA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6"/>
          <p:cNvSpPr/>
          <p:nvPr/>
        </p:nvSpPr>
        <p:spPr>
          <a:xfrm>
            <a:off x="5029200" y="804672"/>
            <a:ext cx="54864" cy="3108960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7"/>
          <p:cNvSpPr/>
          <p:nvPr/>
        </p:nvSpPr>
        <p:spPr>
          <a:xfrm>
            <a:off x="5193792" y="9144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3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We Would Like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193792" y="1261872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two-stage (ATE+ASC) pipeline the right scope, or should we try joint modeling?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cross-domain (Restaurant ↔ Laptop) enough to show robustness?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Should we include a traditional baseline (CRF) for ATE to show progression from our class assignments?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343400"/>
            <a:ext cx="804672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Neutral is underrepresented (~20%), which may bias ASC predictions toward Positive/Negative.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Deliverables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deliver four clear outputs that are easy to check and reproduce.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828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243584" y="1554480"/>
            <a:ext cx="438912" cy="438912"/>
          </a:xfrm>
          <a:prstGeom prst="ellipse">
            <a:avLst/>
          </a:prstGeom>
          <a:solidFill>
            <a:srgbClr val="1D63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66" y="164226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for both ATE and ASC pipelines, README with instructions, saved checkpoints. Runnable on Google Colab.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624328" y="132588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319272" y="155448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054" y="164226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15768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vs DeBERTa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15768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ATE (entity-level F1) and ASC (Accuracy, Macro-F1). In-domain and cross-domain results.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00016" y="1325880"/>
            <a:ext cx="1828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4700016" y="132588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5394960" y="155448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742" y="164226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1456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91456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errors through the pipeline: extraction vs classification failures. Confusion matrices, example breakdowns, per-domain analysis.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75704" y="1325880"/>
            <a:ext cx="1828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6775704" y="1325880"/>
            <a:ext cx="182880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7470648" y="1554480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430" y="1642262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67144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67144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ABSA work well? Where does it fail? What matters more — better extraction or classification? Recommendations for real-world restaurant analysis.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1604</Words>
  <Application>Microsoft Macintosh PowerPoint</Application>
  <PresentationFormat>全屏显示(16:9)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Aspect-Based Sentiment Analysis for Reviews</dc:title>
  <dc:subject>PptxGenJS Presentation</dc:subject>
  <dc:creator>Gousu Ding &amp; Fangyuan Zhang</dc:creator>
  <cp:lastModifiedBy>Gousu Ding</cp:lastModifiedBy>
  <cp:revision>2</cp:revision>
  <dcterms:created xsi:type="dcterms:W3CDTF">2026-03-23T01:15:13Z</dcterms:created>
  <dcterms:modified xsi:type="dcterms:W3CDTF">2026-03-23T01:33:40Z</dcterms:modified>
</cp:coreProperties>
</file>